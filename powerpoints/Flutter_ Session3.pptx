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BA18E9-6EF1-480B-8E63-3AD1DC27AF59}">
  <a:tblStyle styleId="{EDBA18E9-6EF1-480B-8E63-3AD1DC27AF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251769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Session 3: Mastering Layouts &amp; OOP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83210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Building Professional, Reusable, and Scalable Flutter Apps for Enactus.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4377481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725578" y="2607915"/>
            <a:ext cx="674084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 1: OOP &amp; Constructors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886075" y="3427065"/>
            <a:ext cx="64198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The Blueprint of Reusable Components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0" y="4021335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571500" y="571500"/>
            <a:ext cx="57300" cy="523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62000" y="571500"/>
            <a:ext cx="10668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Dart Constructors &amp; "this" Keyword</a:t>
            </a:r>
            <a:endParaRPr b="0" sz="3200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133350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Dart simplifies data injection into widgets using short-form constructors. This is essential for creating components that display different data.</a:t>
            </a:r>
            <a:endParaRPr b="0" sz="16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5" name="Google Shape;105;p15"/>
          <p:cNvGrpSpPr/>
          <p:nvPr/>
        </p:nvGrpSpPr>
        <p:grpSpPr>
          <a:xfrm>
            <a:off x="762000" y="2095500"/>
            <a:ext cx="6096000" cy="381000"/>
            <a:chOff x="762000" y="2095500"/>
            <a:chExt cx="6096000" cy="381000"/>
          </a:xfrm>
        </p:grpSpPr>
        <p:sp>
          <p:nvSpPr>
            <p:cNvPr id="106" name="Google Shape;106;p15"/>
            <p:cNvSpPr/>
            <p:nvPr/>
          </p:nvSpPr>
          <p:spPr>
            <a:xfrm>
              <a:off x="762000" y="209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762000" y="20955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F46E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class</a:t>
              </a:r>
              <a:endParaRPr sz="1350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857375" y="209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857375" y="20955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F46E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</a:t>
              </a:r>
              <a:endParaRPr sz="1350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952750" y="209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2952750" y="20955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F46E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const</a:t>
              </a:r>
              <a:endParaRPr sz="1350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4048125" y="2095500"/>
              <a:ext cx="952500" cy="3810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 txBox="1"/>
            <p:nvPr/>
          </p:nvSpPr>
          <p:spPr>
            <a:xfrm>
              <a:off x="4048125" y="2095500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F46E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super</a:t>
              </a:r>
              <a:endParaRPr sz="1350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5143500" y="2095500"/>
              <a:ext cx="1714500" cy="381000"/>
            </a:xfrm>
            <a:prstGeom prst="roundRect">
              <a:avLst>
                <a:gd fmla="val 50000" name="adj"/>
              </a:avLst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5143500" y="2095500"/>
              <a:ext cx="171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F46E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required this</a:t>
              </a:r>
              <a:endParaRPr sz="1350">
                <a:solidFill>
                  <a:srgbClr val="4F46E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762000" y="2857500"/>
            <a:ext cx="10668000" cy="1047900"/>
            <a:chOff x="762000" y="2857500"/>
            <a:chExt cx="10668000" cy="1047900"/>
          </a:xfrm>
        </p:grpSpPr>
        <p:sp>
          <p:nvSpPr>
            <p:cNvPr id="117" name="Google Shape;117;p15"/>
            <p:cNvSpPr/>
            <p:nvPr/>
          </p:nvSpPr>
          <p:spPr>
            <a:xfrm>
              <a:off x="762000" y="2857500"/>
              <a:ext cx="10668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" name="Google Shape;118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7750" y="3257550"/>
              <a:ext cx="2001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5"/>
            <p:cNvSpPr txBox="1"/>
            <p:nvPr/>
          </p:nvSpPr>
          <p:spPr>
            <a:xfrm>
              <a:off x="1476375" y="3000375"/>
              <a:ext cx="971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Short-form: </a:t>
              </a:r>
              <a:r>
                <a:rPr b="0" lang="en-US" sz="18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Use this.variable to assign values instantly.</a:t>
              </a:r>
              <a:endParaRPr b="1" sz="18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762000" y="4095750"/>
            <a:ext cx="10668000" cy="1047900"/>
            <a:chOff x="762000" y="4095750"/>
            <a:chExt cx="10668000" cy="1047900"/>
          </a:xfrm>
        </p:grpSpPr>
        <p:sp>
          <p:nvSpPr>
            <p:cNvPr id="121" name="Google Shape;121;p15"/>
            <p:cNvSpPr/>
            <p:nvPr/>
          </p:nvSpPr>
          <p:spPr>
            <a:xfrm>
              <a:off x="762000" y="4095750"/>
              <a:ext cx="10668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2" name="Google Shape;12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47750" y="4495800"/>
              <a:ext cx="2001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5"/>
            <p:cNvSpPr txBox="1"/>
            <p:nvPr/>
          </p:nvSpPr>
          <p:spPr>
            <a:xfrm>
              <a:off x="1476375" y="4238625"/>
              <a:ext cx="971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Required: </a:t>
              </a:r>
              <a:r>
                <a:rPr b="0" lang="en-US" sz="18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Force data passing with the required keyword.</a:t>
              </a:r>
              <a:endParaRPr b="1" sz="18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4" name="Google Shape;124;p15"/>
          <p:cNvGrpSpPr/>
          <p:nvPr/>
        </p:nvGrpSpPr>
        <p:grpSpPr>
          <a:xfrm>
            <a:off x="762000" y="5334000"/>
            <a:ext cx="10668000" cy="1047900"/>
            <a:chOff x="762000" y="5334000"/>
            <a:chExt cx="10668000" cy="1047900"/>
          </a:xfrm>
        </p:grpSpPr>
        <p:sp>
          <p:nvSpPr>
            <p:cNvPr id="125" name="Google Shape;125;p15"/>
            <p:cNvSpPr/>
            <p:nvPr/>
          </p:nvSpPr>
          <p:spPr>
            <a:xfrm>
              <a:off x="762000" y="5334000"/>
              <a:ext cx="10668000" cy="1047900"/>
            </a:xfrm>
            <a:prstGeom prst="roundRect">
              <a:avLst>
                <a:gd fmla="val 1090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47750" y="5734050"/>
              <a:ext cx="2286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5"/>
            <p:cNvSpPr txBox="1"/>
            <p:nvPr/>
          </p:nvSpPr>
          <p:spPr>
            <a:xfrm>
              <a:off x="1476375" y="5476875"/>
              <a:ext cx="971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Key: </a:t>
              </a:r>
              <a:r>
                <a:rPr b="0" lang="en-US" sz="18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The super.key helps Flutter track widget identity.</a:t>
              </a:r>
              <a:endParaRPr b="1" sz="18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2840593" y="2607915"/>
            <a:ext cx="651081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 2: Advanced Layouts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2995612" y="3427065"/>
            <a:ext cx="62007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Row, Column, Stack, and Flex Space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0" y="4021335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1000125" y="21288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MainAxisAlignment: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Controls spacing along the primary axis (Horizontal for Rows).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0125" y="29289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CrossAxisAlignment: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Controls alignment perpendicular to the primary axis.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00125" y="3729037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Expanded Widget: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Forces a child to fill the remaining available space.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574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5751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7576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Row &amp; Column: Alignment Mastery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8504"/>
            <a:ext cx="3492549" cy="264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58504"/>
            <a:ext cx="3492549" cy="264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58504"/>
            <a:ext cx="3492549" cy="264586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66775" y="352052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Overlap Elements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66775" y="4006304"/>
            <a:ext cx="2901999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Place widgets on top of each other. The first child in the list is at the bottom of the stack.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45074" y="352052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Positioned Widget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645074" y="4006304"/>
            <a:ext cx="2901999" cy="75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Positioned to place children at specific coordinates (top, bottom, left, right) within a Stack.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423374" y="3520529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Common Use Case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423374" y="4006304"/>
            <a:ext cx="29019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Perfect for adding badges to icons, text over images, or custom decorative background shapes.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91879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91879"/>
            <a:ext cx="3048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91879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Stack: Layers &amp; Z-Axis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2910601" y="2607915"/>
            <a:ext cx="6370796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 3: Reusability &amp; Files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3062287" y="3427065"/>
            <a:ext cx="60674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Clean Code &amp; Refactoring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0" y="4021335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157162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Modular Folder Structure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157162"/>
            <a:ext cx="571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2862262"/>
            <a:ext cx="5715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106203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1528762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 your Enactus project grows, keeping all widgets in main.dart becomes impossible to manage.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2043112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moving widgets to lib/widgets/ and screens to lib/screens/, you achieve true modularity and code reuse across different parts of the app.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71500" y="3057525"/>
            <a:ext cx="441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70%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4429125"/>
            <a:ext cx="4419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Reduction in Code Duplication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991225" y="2900362"/>
            <a:ext cx="6200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DRY Principle: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Don't Repeat Yourself. Change once, update everywhere.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991225" y="3395662"/>
            <a:ext cx="62007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Performance: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Class-based widgets allow for const constructors, saving CPU cycles.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991225" y="4214812"/>
            <a:ext cx="62007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Collaboration: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Team members can work on different files simultaneously without merge conflicts.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29289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2600" y="34242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2600" y="424338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Refactor into Classes?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2"/>
          <p:cNvGraphicFramePr/>
          <p:nvPr/>
        </p:nvGraphicFramePr>
        <p:xfrm>
          <a:off x="571500" y="2828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{EDBA18E9-6EF1-480B-8E63-3AD1DC27AF59}</a:tableStyleId>
              </a:tblPr>
              <a:tblGrid>
                <a:gridCol w="2571000"/>
                <a:gridCol w="3994550"/>
                <a:gridCol w="4483450"/>
              </a:tblGrid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Named (Recommended)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Ordering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Strict Order Required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Any Order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Poor (Values only)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Excellent (Key: Value)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Difficult to skip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Very easy to omit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2"/>
          <p:cNvSpPr/>
          <p:nvPr/>
        </p:nvSpPr>
        <p:spPr>
          <a:xfrm>
            <a:off x="571500" y="3967162"/>
            <a:ext cx="2571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142505" y="3967162"/>
            <a:ext cx="3994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7137052" y="3967162"/>
            <a:ext cx="448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71500" y="4538662"/>
            <a:ext cx="2571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142505" y="4538662"/>
            <a:ext cx="3994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137052" y="4538662"/>
            <a:ext cx="448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5110162"/>
            <a:ext cx="2571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142505" y="5110162"/>
            <a:ext cx="39945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137052" y="5110162"/>
            <a:ext cx="44834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Choosing Your Constructor Type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2438400" y="2308919"/>
            <a:ext cx="7315200" cy="224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r>
              <a:rPr b="0" i="0" lang="en-US" sz="31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Great software design is not about building everything at once; it's about building small, reliable pieces that fit together. </a:t>
            </a:r>
            <a:r>
              <a:rPr b="0" i="0" lang="en-US" sz="3150" u="none" cap="none" strike="noStrik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3655695" y="2074515"/>
            <a:ext cx="488061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3771900" y="3446115"/>
            <a:ext cx="4648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Ready to build the Enactus Member Directory?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3771900" y="4288035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Next Session: Dynamic Lists &amp; Data Modeling</a:t>
            </a:r>
            <a:endParaRPr/>
          </a:p>
        </p:txBody>
      </p:sp>
      <p:pic>
        <p:nvPicPr>
          <p:cNvPr descr="image.png"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5275" y="4354710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